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4"/>
  </p:sldMasterIdLst>
  <p:notesMasterIdLst>
    <p:notesMasterId r:id="rId12"/>
  </p:notesMasterIdLst>
  <p:handoutMasterIdLst>
    <p:handoutMasterId r:id="rId13"/>
  </p:handoutMasterIdLst>
  <p:sldIdLst>
    <p:sldId id="256" r:id="rId11"/>
    <p:sldId id="257" r:id="rId10"/>
    <p:sldId id="258" r:id="rId9"/>
    <p:sldId id="259" r:id="rId8"/>
    <p:sldId id="260" r:id="rId7"/>
    <p:sldId id="261" r:id="rId6"/>
    <p:sldId id="262" r:id="rId5"/>
    <p:sldId id="263" r:id="rId19"/>
    <p:sldId id="264" r:id="rId20"/>
    <p:sldId id="265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/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EF93B1-801C-F3DE-B018-C1C68DF99292}" v="1" dt="2024-12-17T00:25:01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42" autoAdjust="0"/>
  </p:normalViewPr>
  <p:slideViewPr>
    <p:cSldViewPr snapToGrid="0">
      <p:cViewPr>
        <p:scale>
          <a:sx n="75" d="100"/>
          <a:sy n="75" d="100"/>
        </p:scale>
        <p:origin x="930" y="8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5/10/relationships/revisionInfo" Target="revisionInfo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EF929B6A-DAAB-DB46-D3D3-FCE2A9F4B3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376BA1E-FE1D-1802-B14E-761B952BAE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56D808-B860-401D-AF7C-322414C0CC7D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A1B3D07-5D3E-48E7-5750-E905AF8B7E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38D182B-A9C0-9337-1019-09033B2C96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83581-1F0E-44D3-AA15-F0F142C6A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91532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25FFA-04D6-4E43-8CAB-8F9E96954BCF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6EB9A-E095-4C20-A56C-1F5F53DBB9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336669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emf"/><Relationship Id="rId4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1099317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317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68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949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53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2886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508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665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1522428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8012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675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4284151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75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049490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40335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1523013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722281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71145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421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688548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222501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01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4154353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2569420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9770208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81052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2038927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28703" y="6429853"/>
            <a:ext cx="240129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45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966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3758298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159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34037629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08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5895132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813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 dirty="0">
                <a:solidFill>
                  <a:schemeClr val="bg1"/>
                </a:solidFill>
                <a:latin typeface="Graphik" panose="020B0503030202060203" pitchFamily="34" charset="77"/>
              </a:rPr>
              <a:t>Copyright © 2026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703649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882892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2314820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88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0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463886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6439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1153405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9335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790415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8469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695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28296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238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726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47555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48047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20051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894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302418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>
            <a:extLst>
              <a:ext uri="{FF2B5EF4-FFF2-40B4-BE49-F238E27FC236}">
                <a16:creationId xmlns:a16="http://schemas.microsoft.com/office/drawing/2014/main" id="{319078A6-AB11-444F-7FF2-D9D7873B763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00779" y="969574"/>
            <a:ext cx="11376000" cy="276999"/>
          </a:xfrm>
          <a:prstGeom prst="rect">
            <a:avLst/>
          </a:prstGeom>
        </p:spPr>
        <p:txBody>
          <a:bodyPr wrap="square" tIns="0" anchor="t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800" b="0">
                <a:solidFill>
                  <a:schemeClr val="tx1"/>
                </a:solidFill>
                <a:latin typeface="+mj-lt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Insert subtitle here at 18pt, align to the baseline of the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3C44B6F-D731-DA66-D96E-981D33CC12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0779" y="150552"/>
            <a:ext cx="11376000" cy="215444"/>
          </a:xfrm>
          <a:prstGeom prst="rect">
            <a:avLst/>
          </a:prstGeom>
        </p:spPr>
        <p:txBody>
          <a:bodyPr wrap="square" tIns="0" anchor="ctr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400" b="1">
                <a:solidFill>
                  <a:schemeClr val="accent1"/>
                </a:solidFill>
                <a:latin typeface="+mj-lt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noProof="0" dirty="0"/>
              <a:t>Insert subhead here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946352D-9146-0292-2C6F-2444327EE6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79" y="490257"/>
            <a:ext cx="11376000" cy="432000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2800" b="1">
                <a:latin typeface="+mj-lt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29420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6972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3172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2" r:id="rId37"/>
    <p:sldLayoutId id="2147483733" r:id="rId38"/>
    <p:sldLayoutId id="2147483734" r:id="rId39"/>
    <p:sldLayoutId id="2147483735" r:id="rId40"/>
    <p:sldLayoutId id="2147483736" r:id="rId41"/>
    <p:sldLayoutId id="2147483737" r:id="rId42"/>
    <p:sldLayoutId id="2147483738" r:id="rId43"/>
    <p:sldLayoutId id="2147483739" r:id="rId44"/>
    <p:sldLayoutId id="2147483740" r:id="rId45"/>
    <p:sldLayoutId id="2147483741" r:id="rId46"/>
    <p:sldLayoutId id="2147483742" r:id="rId47"/>
    <p:sldLayoutId id="2147483743" r:id="rId48"/>
    <p:sldLayoutId id="2147483744" r:id="rId49"/>
    <p:sldLayoutId id="2147483745" r:id="rId50"/>
    <p:sldLayoutId id="2147483746" r:id="rId51"/>
    <p:sldLayoutId id="2147483747" r:id="rId52"/>
    <p:sldLayoutId id="2147483748" r:id="rId53"/>
    <p:sldLayoutId id="2147483749" r:id="rId54"/>
    <p:sldLayoutId id="2147483750" r:id="rId55"/>
    <p:sldLayoutId id="2147483751" r:id="rId56"/>
    <p:sldLayoutId id="2147483752" r:id="rId57"/>
    <p:sldLayoutId id="2147483755" r:id="rId58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Meiryo UI"/>
              </a:defRPr>
            </a:pPr>
            <a:r>
              <a:t>インタビューのコツ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  <a:latin typeface="Meiryo UI"/>
              </a:defRPr>
            </a:pPr>
            <a:r>
              <a:t>Sotaの個人Vaultから抽出した実践ナレッジ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400">
                <a:solidFill>
                  <a:srgbClr val="C36EFF"/>
                </a:solidFill>
                <a:latin typeface="Meiryo UI"/>
              </a:defRPr>
            </a:pPr>
            <a:r>
              <a:t>Sota Yamanaka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defRPr sz="800">
                <a:solidFill>
                  <a:srgbClr val="C36EFF"/>
                </a:solidFill>
                <a:latin typeface="Meiryo UI"/>
              </a:defRPr>
            </a:pPr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Meiryo UI"/>
              </a:rPr>
              <a:t>アジェンダ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"/>
            <a:ext cx="11430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180"/>
                </a:solidFill>
                <a:latin typeface="Meiryo UI"/>
              </a:defRPr>
            </a:pPr>
            <a:r>
              <a:t>アジェンダ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63040"/>
            <a:ext cx="502920" cy="56692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153619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eiryo UI"/>
              </a:defRPr>
            </a:pPr>
            <a:r>
              <a:t>マインドセット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2164080"/>
            <a:ext cx="502920" cy="56692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7" y="223723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eiryo UI"/>
              </a:defRPr>
            </a:pPr>
            <a:r>
              <a:t>事前準備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865120"/>
            <a:ext cx="502920" cy="56692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293827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eiryo UI"/>
              </a:defRPr>
            </a:pPr>
            <a:r>
              <a:t>場の作り方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566160"/>
            <a:ext cx="502920" cy="56692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7" y="363931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eiryo UI"/>
              </a:defRPr>
            </a:pPr>
            <a:r>
              <a:t>質問の技術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4267199"/>
            <a:ext cx="502920" cy="56692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7" y="4340351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eiryo UI"/>
              </a:defRPr>
            </a:pPr>
            <a:r>
              <a:t>聞き方の姿勢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4968240"/>
            <a:ext cx="502920" cy="56692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504139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eiryo UI"/>
              </a:defRPr>
            </a:pPr>
            <a:r>
              <a:t>深掘りの型（ジョブ理論）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5669279"/>
            <a:ext cx="502920" cy="56692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7" y="5742431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eiryo UI"/>
              </a:defRPr>
            </a:pPr>
            <a:r>
              <a:t>インタビュー後の整理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Meiryo UI"/>
              </a:rPr>
              <a:t>マインドセット：全ての土台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"/>
            <a:ext cx="11430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180"/>
                </a:solidFill>
                <a:latin typeface="Meiryo UI"/>
              </a:defRPr>
            </a:pPr>
            <a:r>
              <a:t>マインドセット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t>テクニックより「相手への純粋な関心」がインタビューの成否を決める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2103120"/>
            <a:ext cx="10972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2240280"/>
            <a:ext cx="11430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000000"/>
                </a:solidFill>
                <a:latin typeface="Meiryo UI"/>
              </a:defRPr>
            </a:pPr>
            <a:r>
              <a:t>どんなに巧みな質問技術より、「相手を知りたい」という純粋な関心が重要。</a:t>
            </a:r>
            <a:br/>
            <a:r>
              <a:t>関心があれば、自然と「その前後で何があったか」「その時どう感じたか」という問いが生まれる。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840480"/>
            <a:ext cx="11430000" cy="2331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「映画監督」になる：抽象的な意見ではなく、具体的な過去の行動と状況を映像として捉える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目的から逆算する：「何を特定・検証するために、何を理解するか」を事前に言語化する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2つの視点を持つ：没入する自分と、「聞くべきことを聞けているか」チェックするもう一人の自分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• 打算的な下心は見抜かれる：「聞き出してやろう」という態度は相手に伝わり、場が閉じる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Meiryo UI"/>
              </a:rPr>
              <a:t>事前準備の流れ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"/>
            <a:ext cx="11430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180"/>
                </a:solidFill>
                <a:latin typeface="Meiryo UI"/>
              </a:defRPr>
            </a:pPr>
            <a:r>
              <a:t>事前準備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t>目的から逆算した設計と事前調査が、場での余裕と深掘りを生む</a:t>
            </a:r>
          </a:p>
        </p:txBody>
      </p:sp>
      <p:sp>
        <p:nvSpPr>
          <p:cNvPr id="7" name="homePlate7"/>
          <p:cNvSpPr/>
          <p:nvPr/>
        </p:nvSpPr>
        <p:spPr>
          <a:xfrm>
            <a:off x="384048" y="2011679"/>
            <a:ext cx="2881502" cy="685800"/>
          </a:xfrm>
          <a:prstGeom prst="homePlate">
            <a:avLst/>
          </a:prstGeom>
          <a:solidFill>
            <a:srgbClr val="460073"/>
          </a:solidFill>
          <a:ln>
            <a:noFill/>
          </a:ln>
        </p:spPr>
        <p:txBody>
          <a:bodyPr anchor="ctr" lIns="91440" tIns="45720" rIns="91440" bIns="4572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28123" y="2011679"/>
            <a:ext cx="2449277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①目的の定義</a:t>
            </a:r>
          </a:p>
        </p:txBody>
      </p:sp>
      <p:sp>
        <p:nvSpPr>
          <p:cNvPr id="9" name="chevron9"/>
          <p:cNvSpPr/>
          <p:nvPr/>
        </p:nvSpPr>
        <p:spPr>
          <a:xfrm>
            <a:off x="3233546" y="2011679"/>
            <a:ext cx="2881502" cy="685800"/>
          </a:xfrm>
          <a:prstGeom prst="chevron">
            <a:avLst/>
          </a:prstGeom>
          <a:solidFill>
            <a:srgbClr val="460073"/>
          </a:solidFill>
          <a:ln>
            <a:noFill/>
          </a:ln>
        </p:spPr>
        <p:txBody>
          <a:bodyPr anchor="ctr" lIns="91440" tIns="45720" rIns="91440" bIns="4572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377622" y="2011679"/>
            <a:ext cx="2449277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②対象者の調査</a:t>
            </a:r>
          </a:p>
        </p:txBody>
      </p:sp>
      <p:sp>
        <p:nvSpPr>
          <p:cNvPr id="11" name="chevron11"/>
          <p:cNvSpPr/>
          <p:nvPr/>
        </p:nvSpPr>
        <p:spPr>
          <a:xfrm>
            <a:off x="6083045" y="2011679"/>
            <a:ext cx="2881502" cy="685800"/>
          </a:xfrm>
          <a:prstGeom prst="chevron">
            <a:avLst/>
          </a:prstGeom>
          <a:solidFill>
            <a:srgbClr val="460073"/>
          </a:solidFill>
          <a:ln>
            <a:noFill/>
          </a:ln>
        </p:spPr>
        <p:txBody>
          <a:bodyPr anchor="ctr" lIns="91440" tIns="45720" rIns="91440" bIns="45720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27121" y="2011679"/>
            <a:ext cx="2449277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③フロー設計</a:t>
            </a:r>
          </a:p>
        </p:txBody>
      </p:sp>
      <p:sp>
        <p:nvSpPr>
          <p:cNvPr id="13" name="chevron13"/>
          <p:cNvSpPr/>
          <p:nvPr/>
        </p:nvSpPr>
        <p:spPr>
          <a:xfrm>
            <a:off x="8932544" y="2011679"/>
            <a:ext cx="2881502" cy="685800"/>
          </a:xfrm>
          <a:prstGeom prst="chevron">
            <a:avLst/>
          </a:prstGeom>
          <a:solidFill>
            <a:srgbClr val="460073"/>
          </a:solidFill>
          <a:ln>
            <a:noFill/>
          </a:ln>
        </p:spPr>
        <p:txBody>
          <a:bodyPr anchor="ctr" lIns="91440" tIns="45720" rIns="91440" bIns="45720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076620" y="2011679"/>
            <a:ext cx="2593352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④練習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80360"/>
            <a:ext cx="2711196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「何を特定・検証するためにYYを理解する」と言語化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NG: 「ニーズを知る」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OK: 「30代男性が休日の朝にコーヒーを飲む際の情緒的価値を特定する」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4700" y="2880360"/>
            <a:ext cx="2711196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相手のSNS・記事・プロフィールを徹底調査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事前調査が場での余裕を生み、深掘りにつながる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N1（実在する一人）を深掘りする意識を持つ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880360"/>
            <a:ext cx="2711196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一言一句の台本ではなくチェックリスト形式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導入→本編（広い質問→具体）→結びの3段構成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目的・仮説のないインタビューはチグハグになる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9700" y="2880360"/>
            <a:ext cx="2711196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実際に質問を声に出して練習する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鏡の前や信頼できる人との模擬インタビュー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質問の流れとタイミングを体に染み込ませる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Meiryo UI"/>
              </a:rPr>
              <a:t>場の作り方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"/>
            <a:ext cx="11430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180"/>
                </a:solidFill>
                <a:latin typeface="Meiryo UI"/>
              </a:defRPr>
            </a:pPr>
            <a:r>
              <a:t>場の作り方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t>インタビューの質は、最初の数分間でほぼ決まる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874519"/>
            <a:ext cx="3688080" cy="43434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874519"/>
            <a:ext cx="36880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08632" y="1655063"/>
            <a:ext cx="438912" cy="438912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2020824"/>
            <a:ext cx="346862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Meiryo UI"/>
              </a:defRPr>
            </a:pPr>
            <a:r>
              <a:t>ラポール形成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2560320"/>
            <a:ext cx="3468623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相手へのリスペクトを言葉と態度で伝える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相手のSNSや実績に「本物の関心」を示す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自分のことも少し話してフラットな関係を作る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「先にジャブを打つ」：共通点や話しやすい話題を先に出す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ラポールなき深掘りは、尋問になる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5008" y="1874519"/>
            <a:ext cx="3688080" cy="43434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5008" y="1874519"/>
            <a:ext cx="36880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79592" y="1655063"/>
            <a:ext cx="438912" cy="438912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4736" y="2020824"/>
            <a:ext cx="346862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Meiryo UI"/>
              </a:defRPr>
            </a:pPr>
            <a:r>
              <a:t>流れを最初に説明する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4736" y="2560320"/>
            <a:ext cx="3468623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「今日は〇〇について約60分お聞きします」と全体像を伝える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ゴールと進め方を共有すると相手が安心して話せる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録音・録画の可否を最初に確認する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守秘義務・使用目的を明示して信頼を担保する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「最後に何でも聞いてください」と伝えて双方向感を出す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5968" y="1874519"/>
            <a:ext cx="3688080" cy="43434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5968" y="1874519"/>
            <a:ext cx="36880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50552" y="1655063"/>
            <a:ext cx="438912" cy="438912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5695" y="2020824"/>
            <a:ext cx="346862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Meiryo UI"/>
              </a:defRPr>
            </a:pPr>
            <a:r>
              <a:t>空気を作る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5695" y="2560320"/>
            <a:ext cx="3468623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インタビュアーが場の空気をコントロールする意識を持つ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相手がどんな状態で入ってくるかは最初で決まる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自分が落ち着いていれば、相手も落ち着く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緊張している時こそ、ゆっくり話す・間を怖がらない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「正解はない」「思ったことを率直に」と念押しする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Meiryo UI"/>
              </a:rPr>
              <a:t>質問の技術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"/>
            <a:ext cx="11430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180"/>
                </a:solidFill>
                <a:latin typeface="Meiryo UI"/>
              </a:defRPr>
            </a:pPr>
            <a:r>
              <a:t>質問の技術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t>過去の具体的な行動から聞き、仮説を持って広い質問→具体へ深める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554480"/>
            <a:ext cx="5577840" cy="219456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554480"/>
            <a:ext cx="557784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1664207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t>過去の行動を聞く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2084831"/>
            <a:ext cx="5303520" cy="1572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「最後にXXしたのはいつですか？」から開始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人間は未来を予測できないが、過去の行動は事実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「あったら使いますか？」は聞かない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日時を特定すると状況・感情・環境が芋づる式に出てくる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7" y="1554480"/>
            <a:ext cx="5577840" cy="219456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7" y="1554480"/>
            <a:ext cx="557784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664207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t>広い質問→具体へ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084831"/>
            <a:ext cx="5303520" cy="1572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まずエピソード記憶を呼び起こす広い質問から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その後「いつ・どこで・誰と・何を」で状況を映画のシーンのように描写させる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抽象→具体のリズムを意識してセッションを進める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931920"/>
            <a:ext cx="5577840" cy="219456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3931920"/>
            <a:ext cx="557784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" y="404164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t>仮説を当てにいく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" y="4462272"/>
            <a:ext cx="5303520" cy="1572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相手がうまく言語化できない時に「こういうことないですか？」と仮説を提示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事前に仮説を持っておくことが前提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押しつけではなく「確認」として出すのがコツ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仮説が外れた時こそ深いインサイトが生まれる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7" y="3931920"/>
            <a:ext cx="5577840" cy="219456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7" y="3931920"/>
            <a:ext cx="557784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04164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t>クローズド質問に注意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62272"/>
            <a:ext cx="5303520" cy="1572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相手の語りたがり度が低いとYES/NO回答になりやすい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「〜ですよね？」「〜でしたか？」はクローズド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「〜について教えてもらえますか？」に変える習慣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eiryo UI"/>
              </a:defRPr>
            </a:pPr>
            <a:r>
              <a:t>• 誘導尋問は分析に使えないデータを生む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Meiryo UI"/>
              </a:rPr>
              <a:t>聞き方の姿勢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"/>
            <a:ext cx="11430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180"/>
                </a:solidFill>
                <a:latin typeface="Meiryo UI"/>
              </a:defRPr>
            </a:pPr>
            <a:r>
              <a:t>聞き方の姿勢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t>発言を素直に受け取り、インタビュー中に結論を出そうとしない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563624"/>
            <a:ext cx="54864" cy="2743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08760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  <a:latin typeface="Meiryo UI"/>
              </a:defRPr>
            </a:pPr>
            <a:r>
              <a:t>誘導しない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20240"/>
            <a:ext cx="11247120" cy="103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分析に使えるのはユーザーの発言だけ。自分の仮説を押しつけない。「XXだから便利ですよね？」はNG。報奨金のような前提を置いた質問も、相手が気を遣っているだけになる。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3102864"/>
            <a:ext cx="54864" cy="2743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047999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  <a:latin typeface="Meiryo UI"/>
              </a:defRPr>
            </a:pPr>
            <a:r>
              <a:t>言葉をそのまま受け止める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459480"/>
            <a:ext cx="11247120" cy="103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自分の解釈を入れない。発言は事実として、私見と切り分ける。「つまりこういうことですか？」と確認はしてよいが、自分の主観的解釈を前提にしてはいけない。その場で生まれる言葉を大切にし、「このセリフを言って欲しい」という下心を出さな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4642104"/>
            <a:ext cx="54864" cy="2743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587240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  <a:latin typeface="Meiryo UI"/>
              </a:defRPr>
            </a:pPr>
            <a:r>
              <a:t>結論を急がない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998720"/>
            <a:ext cx="11247120" cy="103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t>インタビュー中に結論を出そうとしない。目の前のN1の事実は事実として受け止め、分析は後で行う。確からしい示唆が出ても、他のインタビュイーは全く異なる行動をしている可能性がある。全体の矛盾を見つける意識を持つ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Meiryo UI"/>
              </a:rPr>
              <a:t>深掘りの型（ジョブ理論ベース）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"/>
            <a:ext cx="11430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180"/>
                </a:solidFill>
                <a:latin typeface="Meiryo UI"/>
              </a:defRPr>
            </a:pPr>
            <a:r>
              <a:t>深掘りの型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t>5つの問いで「本質的なジョブ」を表面ニーズの奥から引き出す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1874519"/>
          <a:ext cx="11429999" cy="4297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474720"/>
                <a:gridCol w="2560320"/>
                <a:gridCol w="3749039"/>
              </a:tblGrid>
              <a:tr h="716279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ステップ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問いの例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目的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ポイント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60073"/>
                          </a:solidFill>
                          <a:latin typeface="Meiryo UI"/>
                        </a:defRPr>
                      </a:pPr>
                      <a:r>
                        <a:t>① Job（進歩）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「その時、何を達成しようとしていましたか？」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本質的な目的の特定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「〜したい」という動詞で捉える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60073"/>
                          </a:solidFill>
                          <a:latin typeface="Meiryo UI"/>
                        </a:defRPr>
                      </a:pPr>
                      <a:r>
                        <a:t>② Context（状況）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「何時頃でしたか？誰といましたか？どこで？」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行動の文脈・環境の把握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時間・場所・同伴者で状況を具体化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60073"/>
                          </a:solidFill>
                          <a:latin typeface="Meiryo UI"/>
                        </a:defRPr>
                      </a:pPr>
                      <a:r>
                        <a:t>③ Barrier（障害）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「何が邪魔をしていましたか？うまくいかない原因は？」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阻害要因の発見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「不満」ではなく「何が邪魔か」で聞く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60073"/>
                          </a:solidFill>
                          <a:latin typeface="Meiryo UI"/>
                        </a:defRPr>
                      </a:pPr>
                      <a:r>
                        <a:t>④ Solution（対処）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「今はどう対処していますか？何が不満ですか？」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現在の代替行動と不満点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不完全な解決策の中にニーズが潜む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60073"/>
                          </a:solidFill>
                          <a:latin typeface="Meiryo UI"/>
                        </a:defRPr>
                      </a:pPr>
                      <a:r>
                        <a:t>⑤ Criteria（条件）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「理想の解決策は？譲れない条件は何ですか？」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意思決定の基準の把握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t>「あれば嬉しい」と「必須」を分ける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Meiryo UI"/>
              </a:rPr>
              <a:t>インタビュー後の整理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"/>
            <a:ext cx="114300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8180"/>
                </a:solidFill>
                <a:latin typeface="Meiryo UI"/>
              </a:defRPr>
            </a:pPr>
            <a:r>
              <a:t>インタビュー後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t>ラップアップとJOBS分解で、生の発言をインサイトへ昇華させる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417320"/>
            <a:ext cx="11430000" cy="1988819"/>
          </a:xfrm>
          <a:prstGeom prst="rect">
            <a:avLst/>
          </a:prstGeom>
          <a:solidFill>
            <a:srgbClr val="F1F1EF"/>
          </a:solidFill>
          <a:ln w="952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17320"/>
            <a:ext cx="1828800" cy="1988819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その場で</a:t>
            </a:r>
            <a:br/>
            <a:r>
              <a:t>やること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0008" y="1527048"/>
            <a:ext cx="9418320" cy="176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  <a:latin typeface="Meiryo UI"/>
              </a:defRPr>
            </a:pPr>
            <a:r>
              <a:t>• ラップアップ（認識合わせ）：「今日お話いただいた中で、XXXとおっしゃっていましたが、つまりYYYということですか？」と確認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  <a:latin typeface="Meiryo UI"/>
              </a:defRPr>
            </a:pPr>
            <a:r>
              <a:t>• 言い残したことの確認：「他に何かあれば教えてください」で追加情報を引き出す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  <a:latin typeface="Meiryo UI"/>
              </a:defRPr>
            </a:pPr>
            <a:r>
              <a:t>• 矛盾・引っかかりのメモ：インタビュー中に気になった点を手元にメモしておく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641848" y="3543299"/>
            <a:ext cx="914400" cy="411480"/>
          </a:xfrm>
          <a:prstGeom prst="downArrow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3954780"/>
            <a:ext cx="11430000" cy="1988819"/>
          </a:xfrm>
          <a:prstGeom prst="rect">
            <a:avLst/>
          </a:prstGeom>
          <a:solidFill>
            <a:srgbClr val="F1F1EF"/>
          </a:solidFill>
          <a:ln w="952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3954780"/>
            <a:ext cx="1828800" cy="1988819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後処理で</a:t>
            </a:r>
            <a:br/>
            <a:r>
              <a:t>やること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4064508"/>
            <a:ext cx="9418320" cy="176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  <a:latin typeface="Meiryo UI"/>
              </a:defRPr>
            </a:pPr>
            <a:r>
              <a:t>• JOBS分解：発言を付箋に書き出し、Job / Objective / Barrier / Solution の4要素に分類する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  <a:latin typeface="Meiryo UI"/>
              </a:defRPr>
            </a:pPr>
            <a:r>
              <a:t>• 3つのジョブで分析：機能的ジョブ（タスク）・感情的ジョブ（どう感じたいか）・社会的ジョブ（どう見られたいか）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  <a:latin typeface="Meiryo UI"/>
              </a:defRPr>
            </a:pPr>
            <a:r>
              <a:t>• ジョブスペックの定義：製品仕様ではなく「体験の性能条件」として整理する（例：10分で終わる・予約不要・清潔感がある）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 b="1">
                <a:solidFill>
                  <a:srgbClr val="FFFFFF"/>
                </a:solidFill>
                <a:latin typeface="Meiryo U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8D3299D1-8BAA-5240-AA1A-131518F9840A}" vid="{B3CBAD8C-92CA-2C40-85B9-DAF4FF07A48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2ACED322377B44A38511748A5A0007" ma:contentTypeVersion="18" ma:contentTypeDescription="Create a new document." ma:contentTypeScope="" ma:versionID="0dc74e422f9a18a141e5fec2a7862abc">
  <xsd:schema xmlns:xsd="http://www.w3.org/2001/XMLSchema" xmlns:xs="http://www.w3.org/2001/XMLSchema" xmlns:p="http://schemas.microsoft.com/office/2006/metadata/properties" xmlns:ns2="5098c134-aebc-44f3-a434-bdc4e13b0a10" xmlns:ns3="e44a7058-7a93-43b8-8ee5-031e0dcc4004" targetNamespace="http://schemas.microsoft.com/office/2006/metadata/properties" ma:root="true" ma:fieldsID="83351f67241f10a4e51a7104a61567cd" ns2:_="" ns3:_="">
    <xsd:import namespace="5098c134-aebc-44f3-a434-bdc4e13b0a10"/>
    <xsd:import namespace="e44a7058-7a93-43b8-8ee5-031e0dcc40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98c134-aebc-44f3-a434-bdc4e13b0a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4a7058-7a93-43b8-8ee5-031e0dcc400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ec62402-844e-483e-98fe-ed5acaafcc09}" ma:internalName="TaxCatchAll" ma:showField="CatchAllData" ma:web="e44a7058-7a93-43b8-8ee5-031e0dcc40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98c134-aebc-44f3-a434-bdc4e13b0a10">
      <Terms xmlns="http://schemas.microsoft.com/office/infopath/2007/PartnerControls"/>
    </lcf76f155ced4ddcb4097134ff3c332f>
    <TaxCatchAll xmlns="e44a7058-7a93-43b8-8ee5-031e0dcc4004" xsi:nil="true"/>
    <SharedWithUsers xmlns="e44a7058-7a93-43b8-8ee5-031e0dcc4004">
      <UserInfo>
        <DisplayName>Gupta, Amit Ao.</DisplayName>
        <AccountId>131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41BC3D-A924-41F0-8BB2-1E558987CA6D}">
  <ds:schemaRefs>
    <ds:schemaRef ds:uri="5098c134-aebc-44f3-a434-bdc4e13b0a10"/>
    <ds:schemaRef ds:uri="e44a7058-7a93-43b8-8ee5-031e0dcc40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54544C4-0F0C-407F-88FA-7C5781BD8BC8}">
  <ds:schemaRefs>
    <ds:schemaRef ds:uri="5098c134-aebc-44f3-a434-bdc4e13b0a10"/>
    <ds:schemaRef ds:uri="e44a7058-7a93-43b8-8ee5-031e0dcc400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DA9E797-7F65-4D90-AF4D-99AA0FA79DA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0</Words>
  <Application>Microsoft Office PowerPoint</Application>
  <PresentationFormat>ワイド画面</PresentationFormat>
  <Paragraphs>0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6" baseType="lpstr">
      <vt:lpstr>GT Sectra Fine Rg</vt:lpstr>
      <vt:lpstr>System Font</vt:lpstr>
      <vt:lpstr>游ゴシック</vt:lpstr>
      <vt:lpstr>Aptos</vt:lpstr>
      <vt:lpstr>Arial</vt:lpstr>
      <vt:lpstr>Graphik</vt:lpstr>
      <vt:lpstr>Graphik Regular</vt:lpstr>
      <vt:lpstr>Graphik Semibold</vt:lpstr>
      <vt:lpstr>Accenture 2025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Yamazaki, Satoshi</dc:creator>
  <cp:lastModifiedBy>Doai, Kyohei</cp:lastModifiedBy>
  <cp:revision>12</cp:revision>
  <dcterms:created xsi:type="dcterms:W3CDTF">2022-08-19T07:32:27Z</dcterms:created>
  <dcterms:modified xsi:type="dcterms:W3CDTF">2026-03-17T01:29:05Z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0x010100892ACED322377B44A38511748A5A0007</vt:lpwstr>
  </property>
  <property fmtid="{D5CDD505-2E9C-101B-9397-08002B2CF9AE}" pid="3" name="MediaServiceImageTags">
    <vt:lpwstr/>
  </property>
</Properties>
</file>