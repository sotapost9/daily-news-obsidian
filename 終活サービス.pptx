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4"/>
  </p:sldMasterIdLst>
  <p:notesMasterIdLst>
    <p:notesMasterId r:id="rId12"/>
  </p:notesMasterIdLst>
  <p:handoutMasterIdLst>
    <p:handoutMasterId r:id="rId13"/>
  </p:handoutMasterIdLst>
  <p:sldIdLst>
    <p:sldId id="256" r:id="rId11"/>
    <p:sldId id="257" r:id="rId10"/>
    <p:sldId id="258" r:id="rId9"/>
    <p:sldId id="259" r:id="rId8"/>
    <p:sldId id="260" r:id="rId7"/>
    <p:sldId id="261" r:id="rId6"/>
    <p:sldId id="262" r:id="rId5"/>
    <p:sldId id="263" r:id="rId19"/>
    <p:sldId id="264" r:id="rId20"/>
    <p:sldId id="265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/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2" autoAdjust="0"/>
  </p:normalViewPr>
  <p:slideViewPr>
    <p:cSldViewPr snapToGrid="0">
      <p:cViewPr>
        <p:scale>
          <a:sx n="75" d="100"/>
          <a:sy n="75" d="100"/>
        </p:scale>
        <p:origin x="930" y="8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EF929B6A-DAAB-DB46-D3D3-FCE2A9F4B3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376BA1E-FE1D-1802-B14E-761B952BAE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6D808-B860-401D-AF7C-322414C0CC7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A1B3D07-5D3E-48E7-5750-E905AF8B7E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8D182B-A9C0-9337-1019-09033B2C96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83581-1F0E-44D3-AA15-F0F142C6A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153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emf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109931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17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6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49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53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88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50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66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152242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8012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675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4284151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75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049490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40335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1523013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72228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7114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421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68854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2501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01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4154353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256942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770208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105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038927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28703" y="6429853"/>
            <a:ext cx="240129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45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66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758298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59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403762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08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589513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81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 dirty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703649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8289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1482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88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0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463886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6439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115340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9335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9041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846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695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28296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38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726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4755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4804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2005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94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02418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319078A6-AB11-444F-7FF2-D9D7873B763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276999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+mj-lt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3C44B6F-D731-DA66-D96E-981D33CC12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50552"/>
            <a:ext cx="11376000" cy="215444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+mj-lt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946352D-9146-0292-2C6F-2444327EE6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+mj-lt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29420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6972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3172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  <p:sldLayoutId id="2147483742" r:id="rId47"/>
    <p:sldLayoutId id="2147483743" r:id="rId48"/>
    <p:sldLayoutId id="2147483744" r:id="rId49"/>
    <p:sldLayoutId id="2147483745" r:id="rId50"/>
    <p:sldLayoutId id="2147483746" r:id="rId51"/>
    <p:sldLayoutId id="2147483747" r:id="rId52"/>
    <p:sldLayoutId id="2147483748" r:id="rId53"/>
    <p:sldLayoutId id="2147483749" r:id="rId54"/>
    <p:sldLayoutId id="2147483750" r:id="rId55"/>
    <p:sldLayoutId id="2147483751" r:id="rId56"/>
    <p:sldLayoutId id="2147483752" r:id="rId57"/>
    <p:sldLayoutId id="2147483755" r:id="rId58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Meiryo UI"/>
              </a:defRPr>
            </a:pPr>
            <a:r>
              <a:t>終活サービス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  <a:latin typeface="Meiryo UI"/>
              </a:defRPr>
            </a:pPr>
            <a:r>
              <a:t>人生の最終章を、安心・丁寧にサポートする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600">
                <a:solidFill>
                  <a:srgbClr val="C36EFF"/>
                </a:solidFill>
                <a:latin typeface="Meiryo UI"/>
              </a:defRPr>
            </a:pPr>
            <a:r>
              <a:t>Accenture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sz="800">
                <a:solidFill>
                  <a:srgbClr val="C36EFF"/>
                </a:solidFill>
                <a:latin typeface="Meiryo U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アジェンダ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153619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終活とは？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2164080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223723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市場概況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865120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93827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主要サービスカテゴリ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566160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363931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ターゲット顧客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267199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4340351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サービス提供モデル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4968240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4139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競合・差別化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669279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" y="5742431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今後の展望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終活とは何か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終活の概要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終活は死を準備するのではなく、今をより豊かに生きるための活動である</a:t>
            </a:r>
          </a:p>
        </p:txBody>
      </p:sp>
      <p:sp>
        <p:nvSpPr>
          <p:cNvPr id="7" name="homePlate7"/>
          <p:cNvSpPr/>
          <p:nvPr/>
        </p:nvSpPr>
        <p:spPr>
          <a:xfrm>
            <a:off x="384048" y="2057400"/>
            <a:ext cx="2887675" cy="731520"/>
          </a:xfrm>
          <a:prstGeom prst="homePlate">
            <a:avLst/>
          </a:prstGeom>
          <a:solidFill>
            <a:srgbClr val="460073"/>
          </a:solidFill>
          <a:ln>
            <a:noFill/>
          </a:ln>
        </p:spPr>
        <p:txBody>
          <a:bodyPr anchor="ctr" lIns="91440" tIns="45720" rIns="91440" bIns="4572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8431" y="2057400"/>
            <a:ext cx="245452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定義と歴史</a:t>
            </a:r>
          </a:p>
        </p:txBody>
      </p:sp>
      <p:sp>
        <p:nvSpPr>
          <p:cNvPr id="9" name="chevron9"/>
          <p:cNvSpPr/>
          <p:nvPr/>
        </p:nvSpPr>
        <p:spPr>
          <a:xfrm>
            <a:off x="3231489" y="2057400"/>
            <a:ext cx="2887675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 anchor="ctr" lIns="91440" tIns="45720" rIns="91440" bIns="4572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75873" y="2057400"/>
            <a:ext cx="245452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社会的背景</a:t>
            </a:r>
          </a:p>
        </p:txBody>
      </p:sp>
      <p:sp>
        <p:nvSpPr>
          <p:cNvPr id="11" name="chevron11"/>
          <p:cNvSpPr/>
          <p:nvPr/>
        </p:nvSpPr>
        <p:spPr>
          <a:xfrm>
            <a:off x="6078931" y="2057400"/>
            <a:ext cx="2887675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 anchor="ctr" lIns="91440" tIns="45720" rIns="91440" bIns="45720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23314" y="2057400"/>
            <a:ext cx="245452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意識の変化</a:t>
            </a:r>
          </a:p>
        </p:txBody>
      </p:sp>
      <p:sp>
        <p:nvSpPr>
          <p:cNvPr id="13" name="chevron13"/>
          <p:cNvSpPr/>
          <p:nvPr/>
        </p:nvSpPr>
        <p:spPr>
          <a:xfrm>
            <a:off x="8926372" y="2057400"/>
            <a:ext cx="2887675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 anchor="ctr" lIns="91440" tIns="45720" rIns="91440" bIns="4572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70756" y="2057400"/>
            <a:ext cx="2598907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今後の方向性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017520"/>
            <a:ext cx="26746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2009年「週刊朝日」が命名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人生の終末に向けた前向きな準備活動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遺言・相続・葬儀の事前整理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2988" y="3017520"/>
            <a:ext cx="26746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高齢化率29%（2024年、世界最高水準）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単身高齢者世帯：約700万世帯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看取り難民・孤独死の社会問題化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017520"/>
            <a:ext cx="26746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内閣府調査：60代の68%が終活を「必要」と回答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40〜50代の若年化：早期着手が主流に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タブー感の薄れ、前向きな活動へ転換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7988" y="3017520"/>
            <a:ext cx="26746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デジタル終活の急拡大（SNS・暗号資産）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AIによるパーソナル終活プランの自動生成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地方自治体との連携サービスが増加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高齢化社会と市場規模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市場概況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2030年に向け終活関連市場は1.5兆円超に拡大、参入機会は今が最大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2404" y="1371600"/>
            <a:ext cx="18288" cy="4709159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9904" y="1371600"/>
            <a:ext cx="18288" cy="4709159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47404" y="1371600"/>
            <a:ext cx="18288" cy="4709159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554480"/>
            <a:ext cx="2766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t>29%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697480"/>
            <a:ext cx="27660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eiryo UI"/>
              </a:defRPr>
            </a:pPr>
            <a:r>
              <a:t>高齢化率（2024年）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291840"/>
            <a:ext cx="27660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世界最高水準。2040年には35%超へ。終活需要の根本的なドライバー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715000"/>
            <a:ext cx="27660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18180"/>
                </a:solidFill>
                <a:latin typeface="Meiryo UI"/>
              </a:defRPr>
            </a:pPr>
            <a:r>
              <a:t>出典: 総務省統計局 人口推計（2024年）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7268" y="1554480"/>
            <a:ext cx="2766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t>1.5兆円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7268" y="2697480"/>
            <a:ext cx="27660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eiryo UI"/>
              </a:defRPr>
            </a:pPr>
            <a:r>
              <a:t>市場規模（2030年予測）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7268" y="3291840"/>
            <a:ext cx="27660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終活関連市場全体。2024年比約2倍。葬儀・相続・介護連携が牽引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7268" y="5715000"/>
            <a:ext cx="27660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18180"/>
                </a:solidFill>
                <a:latin typeface="Meiryo UI"/>
              </a:defRPr>
            </a:pPr>
            <a:r>
              <a:t>出典: 矢野経済研究所「シニア市場白書2024」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554480"/>
            <a:ext cx="2766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t>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697480"/>
            <a:ext cx="27660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eiryo UI"/>
              </a:defRPr>
            </a:pPr>
            <a:r>
              <a:t>年平均成長率（CAGR）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3291840"/>
            <a:ext cx="27660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デジタル終活・事前予約型葬儀など新サービスが市場拡大を加速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5715000"/>
            <a:ext cx="27660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18180"/>
                </a:solidFill>
                <a:latin typeface="Meiryo UI"/>
              </a:defRPr>
            </a:pPr>
            <a:r>
              <a:t>出典: 富士経済「終活・シニアサービス市場分析2024」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2268" y="1554480"/>
            <a:ext cx="2766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t>2,500万人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2268" y="2697480"/>
            <a:ext cx="27660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eiryo UI"/>
              </a:defRPr>
            </a:pPr>
            <a:r>
              <a:t>潜在顧客数（65歳以上）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2268" y="3291840"/>
            <a:ext cx="27660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60代以上のうち終活未着手者は約8割。潜在的な獲得機会は巨大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2268" y="5715000"/>
            <a:ext cx="27660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18180"/>
                </a:solidFill>
                <a:latin typeface="Meiryo UI"/>
              </a:defRPr>
            </a:pPr>
            <a:r>
              <a:t>出典: 内閣府「高齢社会白書2024」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主要サービスカテゴリ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サービス詳細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4つの主要カテゴリが終活の全プロセスをカバーし、相互補完的に機能する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45920"/>
            <a:ext cx="5623560" cy="212597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45920"/>
            <a:ext cx="56235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773936"/>
            <a:ext cx="5349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法的・財務サポート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194560"/>
            <a:ext cx="5349240" cy="14858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遺言書作成・公正証書化支援（弁護士・司法書士連携）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相続手続き代行・相続税対策コンサルティング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財産目録作成・資産整理（不動産・金融資産・デジタル資産）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成年後見制度の活用支援・任意後見契約の締結サポート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45920"/>
            <a:ext cx="5623560" cy="212597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45920"/>
            <a:ext cx="56235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773936"/>
            <a:ext cx="5349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ライフエンド・葬儀サポート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194560"/>
            <a:ext cx="5349240" cy="14858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葬儀・告別式の事前予約（全国提携500社以上）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墓地・納骨堂の選定・契約代行（樹木葬・散骨も対応）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エンディングノートの作成支援とデジタル保管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遺品整理・形見分け・不要品処分の一括請負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954780"/>
            <a:ext cx="5623560" cy="212597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954780"/>
            <a:ext cx="56235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4082796"/>
            <a:ext cx="5349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デジタル終活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4503420"/>
            <a:ext cx="5349240" cy="14858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SNS・メールアカウントの死後処理代行（Facebook追悼設定等）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暗号資産・デジタル金融資産の引き継ぎ設計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パスワード・ID情報の安全な信託保管と相続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デジタル遺書・動画メッセージの作成・保管サービス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3954780"/>
            <a:ext cx="5623560" cy="212597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954780"/>
            <a:ext cx="56235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82796"/>
            <a:ext cx="5349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医療・介護連携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503420"/>
            <a:ext cx="5349240" cy="14858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ACP（人生会議）支援・尊厳死の意思表示書類作成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かかりつけ医・介護事業者との多職種連携プラットフォーム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介護保険の申請代行・認定調査への同席支援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ホスピス・在宅緩和ケアの選定・コーディネーション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ターゲット顧客セグメント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ターゲット顧客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60代以上のシニア層を主軸に、家族・法人の3層構造でアプローチする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874519"/>
            <a:ext cx="3688080" cy="43434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874519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08632" y="1655063"/>
            <a:ext cx="438912" cy="43891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039112"/>
            <a:ext cx="346862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シニア層（60〜80代）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2560320"/>
            <a:ext cx="3468623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【規模】約2,500万人（65歳以上）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資産保有額1,000万円以上の富裕層シニア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子どもと離れて暮らす単身・夫婦世帯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持病・介護不安を抱える70代以上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平均LTV：月額5,800円×36ヶ月=20.9万円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5008" y="1874519"/>
            <a:ext cx="3688080" cy="43434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5008" y="1874519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79592" y="1655063"/>
            <a:ext cx="438912" cy="43891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4736" y="2039112"/>
            <a:ext cx="346862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家族・介護者（40〜60代）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6" y="2560320"/>
            <a:ext cx="3468623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【規模】約1,200万人（要介護者の主介護者）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親の終活を遠方から支援したい子世代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ダブルケア（育児×介護）世帯の時間節約ニーズ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突然の相続・葬儀で困った経験のある層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平均LTV：月額2,980円×24ヶ月=7.2万円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5968" y="1874519"/>
            <a:ext cx="3688080" cy="43434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5968" y="1874519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50552" y="1655063"/>
            <a:ext cx="438912" cy="43891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5695" y="2039112"/>
            <a:ext cx="346862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企業・法人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5695" y="2560320"/>
            <a:ext cx="3468623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【規模】約85万社（従業員1,000人以上）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福利厚生として終活サービスを導入する大企業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生命保険・損害保険会社との白ラベル提携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自治体・病院・介護施設との公共連携契約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平均契約額：年間300万円×3年=900万円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サービス提供モデルと収益構造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サービス提供モデル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月額サブスクと成果報酬の組み合わせで安定収益と高LTVを両立する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17320"/>
            <a:ext cx="11430000" cy="1988819"/>
          </a:xfrm>
          <a:prstGeom prst="rect">
            <a:avLst/>
          </a:prstGeom>
          <a:solidFill>
            <a:srgbClr val="F1F1E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17320"/>
            <a:ext cx="1645920" cy="1988819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課題</a:t>
            </a:r>
            <a:br/>
            <a:r>
              <a:t>（現状）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527048"/>
            <a:ext cx="9601200" cy="176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複数業者への分散：葬儀・相続・介護をそれぞれ別業者に依頼、調整コスト大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高額・不透明なコスト：葬儀費用の全国平均195万円、相続手続き費用50〜100万円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情報管理の複雑さ：遺言書・保険証書・デジタルIDが分散し家族が把握困難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41848" y="3543299"/>
            <a:ext cx="914400" cy="411480"/>
          </a:xfrm>
          <a:prstGeom prst="downArrow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3954780"/>
            <a:ext cx="11430000" cy="1988819"/>
          </a:xfrm>
          <a:prstGeom prst="rect">
            <a:avLst/>
          </a:prstGeom>
          <a:solidFill>
            <a:srgbClr val="F1F1E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954780"/>
            <a:ext cx="1645920" cy="1988819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ソリューション</a:t>
            </a:r>
            <a:br/>
            <a:r>
              <a:t>（当社）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4064508"/>
            <a:ext cx="9601200" cy="176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ワンストップサービス：終活全プロセスを一社で完結。専任コンシェルジュが伴走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月額980円〜の明確料金：ベーシック/スタンダード/プレミアムの3プランで透明化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デジタル一元管理：専用アプリで遺言・保険・デジタル資産を安全に集中管理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競合分析と差別化ポイント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競合・差別化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専門性×デジタル×ワンストップの三位一体で既存競合に対し構造的優位を持つ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920240"/>
          <a:ext cx="11430000" cy="4251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48840"/>
                <a:gridCol w="2148840"/>
                <a:gridCol w="2148840"/>
                <a:gridCol w="2971800"/>
              </a:tblGrid>
              <a:tr h="60742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評価軸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当社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競合A（葬儀特化）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競合B（法律特化）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競合C（介護特化）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専門性・カバレッジ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A100FF"/>
                          </a:solidFill>
                          <a:latin typeface="Meiryo UI"/>
                        </a:defRPr>
                      </a:pPr>
                      <a:r>
                        <a:t>◎ 全領域ワンストップ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葬儀・墓のみ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相続・遺言のみ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介護・医療のみ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デジタル対応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A100FF"/>
                          </a:solidFill>
                          <a:latin typeface="Meiryo UI"/>
                        </a:defRPr>
                      </a:pPr>
                      <a:r>
                        <a:t>◎ 専用アプリ・AI提案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× デジタルなし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○ 書類電子化のみ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介護記録のみ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価格透明性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A100FF"/>
                          </a:solidFill>
                          <a:latin typeface="Meiryo UI"/>
                        </a:defRPr>
                      </a:pPr>
                      <a:r>
                        <a:t>◎ 月額980円〜固定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都度見積もり高額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時間制100,000円/h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○ 介護保険適用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全国対応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A100FF"/>
                          </a:solidFill>
                          <a:latin typeface="Meiryo UI"/>
                        </a:defRPr>
                      </a:pPr>
                      <a:r>
                        <a:t>◎ 全国47都道府県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○ 主要30都市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○ 主要20都市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地域限定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パートナー連携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A100FF"/>
                          </a:solidFill>
                          <a:latin typeface="Meiryo UI"/>
                        </a:defRPr>
                      </a:pPr>
                      <a:r>
                        <a:t>◎ 1,000社以上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独自ネットワーク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法律専門家のみ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介護施設のみ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コンシェルジュ対応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A100FF"/>
                          </a:solidFill>
                          <a:latin typeface="Meiryo UI"/>
                        </a:defRPr>
                      </a:pPr>
                      <a:r>
                        <a:t>◎ 専任担当制24h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△ 繁忙期のみ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○ 予約制対応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○ ケアマネ連携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今後の展望とロードマップ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今後の展望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2027年までに全国展開・提携1,000社・ARR50億円を達成する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00200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2654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eiryo UI"/>
              </a:defRPr>
            </a:pPr>
            <a:r>
              <a:t>2025年（FY25）: 都市圏パイロット展開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56816"/>
            <a:ext cx="11265408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東京・大阪・名古屋の3大都市圏でサービス開始。月間500件の終活相談を達成目標。提携先150社・ARR3億円・NPS+50以上を確立する。主要チャネルはデジタル広告とシニア向け金融機関連携。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108959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63239"/>
            <a:ext cx="112654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eiryo UI"/>
              </a:defRPr>
            </a:pPr>
            <a:r>
              <a:t>2026年（FY26）: 主要10都市展開・提携500社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5"/>
            <a:ext cx="11265408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全国主要10都市に拡大。提携先500社・月間2,500件・ARR15億円突破を目指す。自治体向けBtoBサービスを本格化。生命保険会社3社との白ラベル提携を開始し、流入チャネルを多様化する。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4617719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71999"/>
            <a:ext cx="112654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eiryo UI"/>
              </a:defRPr>
            </a:pPr>
            <a:r>
              <a:t>2027年（FY27）: 全国展開・ARR50億円・上場準備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74336"/>
            <a:ext cx="11265408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全国47都道府県にサービス展開。提携1,000社・月間10,000件・ARR50億円を達成。AIによる自動終活プランニング機能をリリース。東証グロース市場への上場準備を開始する。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 b="1">
                <a:solidFill>
                  <a:srgbClr val="FFFFFF"/>
                </a:solidFill>
                <a:latin typeface="Meiryo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8D3299D1-8BAA-5240-AA1A-131518F9840A}" vid="{B3CBAD8C-92CA-2C40-85B9-DAF4FF07A48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ワイド画面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6" baseType="lpstr">
      <vt:lpstr>GT Sectra Fine Rg</vt:lpstr>
      <vt:lpstr>System Font</vt:lpstr>
      <vt:lpstr>游ゴシック</vt:lpstr>
      <vt:lpstr>Aptos</vt:lpstr>
      <vt:lpstr>Arial</vt:lpstr>
      <vt:lpstr>Graphik</vt:lpstr>
      <vt:lpstr>Graphik Regular</vt:lpstr>
      <vt:lpstr>Graphik Semibold</vt:lpstr>
      <vt:lpstr>Accenture 2025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Doai, Kyohei</cp:lastModifiedBy>
  <cp:revision>12</cp:revision>
  <dcterms:created xsi:type="dcterms:W3CDTF">2022-08-19T07:32:27Z</dcterms:created>
  <dcterms:modified xsi:type="dcterms:W3CDTF">2026-03-17T01:29:05Z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